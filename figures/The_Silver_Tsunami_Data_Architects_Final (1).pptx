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6"/>
    <p:sldId id="260" r:id="rId5"/>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thman" initials="u" lastIdx="1" clrIdx="0">
    <p:extLst>
      <p:ext uri="{19B8F6BF-5375-455C-9EA6-DF929625EA0E}">
        <p15:presenceInfo xmlns:p15="http://schemas.microsoft.com/office/powerpoint/2012/main" userId="fdbb4bacd49dc6c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6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6582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judges and colleagues. We are Data Architects presenting 'The Silver Tsunami: A Cross-National Analysis of Fertility Decline, Longevity, and Population Ageing from 1950 to 2050'. In this presentation, we test the popular metaphor of an abrupt global demographic shock against rigorous applied statistics across 155 sovereign nations.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outlines our data cleaning funnel and completeness audit. Starting from 237 territories, we filtered out regional aggregates and micro-territories with population under 1 million, yielding 155 sovereign nations and 15,655 balanced country-years. Core variables achieved 100% completeness, while DoublingTime was excluded due to division-by-zero singularities in shrinking populations.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2 presents our 3-map grid plot tracking median age migration. In 2000, 68 countries had youthful populations. By 2020, 26 countries moved into older categories as fertility declined and longevity expanded. By 2040, under UN projections, youthful nations drop to just 12 countries, mostly in Africa, while 94 nations (61%) enter the mature group.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4 isolates the statistical drivers of national median age. Life expectancy serves as the primary positive anchor, accounting for over 80% of cross-national variance, with each decade of longevity adding 5.1 years to median age. Combined with fewer births, this results in natural decrease where deaths outnumber births.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3 tracks the percentage of countries and world population below replacement fertility of 2.1 children. In 2000, 37.4% of countries were below replacement. By 2020, this reached 49.7% of countries and 68.0% of the world’s people. Empirically, this is a one-way transition: 21 of 22 nations that crossed below remained below, permanently thinning youth cohorts.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the world is ageing steadily. Youthful nations shrink from 68 to 12 by 2040, and by 2020 about 68% of the world’s people already lived below replacement fertility. Longer lives are the main driver of rising median age, reinforced by falling birth rates. To be honest, these results show associations, not proven causes. Because of the ASA DataQuest six-slide limit, we could not include our statistical diagnostic test results, but our full code and details will be available on GitHub. Our data comes from the UN World Population Prospects 2024, with Google used for background research. Thank you, and we welcome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20makindeteslim10@gmail.com|"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mailto:emmanuelikeh2993@gmail.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emmanuelikeh2993/asa-dataquest-2026"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Rectangle 1"/>
          <p:cNvSpPr/>
          <p:nvPr/>
        </p:nvSpPr>
        <p:spPr>
          <a:xfrm>
            <a:off x="731520" y="1097280"/>
            <a:ext cx="1645920"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0"/>
            <a:ext cx="10725912" cy="1280160"/>
          </a:xfrm>
          <a:prstGeom prst="rect">
            <a:avLst/>
          </a:prstGeom>
          <a:noFill/>
        </p:spPr>
        <p:txBody>
          <a:bodyPr wrap="square" lIns="0" tIns="0" rIns="0" bIns="0">
            <a:spAutoFit/>
          </a:bodyPr>
          <a:lstStyle/>
          <a:p>
            <a:pPr>
              <a:defRPr sz="4600">
                <a:solidFill>
                  <a:srgbClr val="102C57"/>
                </a:solidFill>
                <a:latin typeface="Arial Black"/>
              </a:defRPr>
            </a:pPr>
            <a:r>
              <a:rPr dirty="0"/>
              <a:t>The Silver Tsunami</a:t>
            </a:r>
          </a:p>
        </p:txBody>
      </p:sp>
      <p:sp>
        <p:nvSpPr>
          <p:cNvPr id="4" name="TextBox 3"/>
          <p:cNvSpPr txBox="1"/>
          <p:nvPr/>
        </p:nvSpPr>
        <p:spPr>
          <a:xfrm>
            <a:off x="731520" y="2468880"/>
            <a:ext cx="10725912" cy="615553"/>
          </a:xfrm>
          <a:prstGeom prst="rect">
            <a:avLst/>
          </a:prstGeom>
          <a:noFill/>
        </p:spPr>
        <p:txBody>
          <a:bodyPr wrap="square" lIns="0" tIns="0" rIns="0" bIns="0">
            <a:spAutoFit/>
          </a:bodyPr>
          <a:lstStyle/>
          <a:p>
            <a:pPr>
              <a:defRPr sz="2000" b="1">
                <a:solidFill>
                  <a:srgbClr val="0D9488"/>
                </a:solidFill>
                <a:latin typeface="Arial"/>
              </a:defRPr>
            </a:pPr>
            <a:r>
              <a:rPr dirty="0"/>
              <a:t>A Cross-National Analysis of Fertility Decline, Longevity and Population Ageing, </a:t>
            </a:r>
            <a:r>
              <a:rPr lang="en-US" dirty="0"/>
              <a:t>2000</a:t>
            </a:r>
            <a:r>
              <a:rPr dirty="0"/>
              <a:t>–20</a:t>
            </a:r>
            <a:r>
              <a:rPr lang="en-US" dirty="0"/>
              <a:t>40</a:t>
            </a:r>
            <a:endParaRPr dirty="0"/>
          </a:p>
        </p:txBody>
      </p:sp>
      <p:sp>
        <p:nvSpPr>
          <p:cNvPr id="5" name="TextBox 4"/>
          <p:cNvSpPr txBox="1"/>
          <p:nvPr/>
        </p:nvSpPr>
        <p:spPr>
          <a:xfrm>
            <a:off x="731520" y="3474720"/>
            <a:ext cx="10725912" cy="548640"/>
          </a:xfrm>
          <a:prstGeom prst="rect">
            <a:avLst/>
          </a:prstGeom>
          <a:noFill/>
        </p:spPr>
        <p:txBody>
          <a:bodyPr wrap="square" lIns="0" tIns="0" rIns="0" bIns="0">
            <a:spAutoFit/>
          </a:bodyPr>
          <a:lstStyle/>
          <a:p>
            <a:pPr>
              <a:defRPr sz="1300" i="1">
                <a:solidFill>
                  <a:srgbClr val="64748B"/>
                </a:solidFill>
                <a:latin typeface="Arial"/>
              </a:defRPr>
            </a:pPr>
            <a:r>
              <a:t>“‘Silver tsunami’ is a popular metaphor for rapid population ageing; this analysis tests it with data.”</a:t>
            </a:r>
          </a:p>
        </p:txBody>
      </p:sp>
      <p:sp>
        <p:nvSpPr>
          <p:cNvPr id="6" name="Rounded Rectangle 5"/>
          <p:cNvSpPr/>
          <p:nvPr/>
        </p:nvSpPr>
        <p:spPr>
          <a:xfrm>
            <a:off x="731520" y="4480560"/>
            <a:ext cx="10725912" cy="1691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4709160"/>
            <a:ext cx="9994392" cy="990015"/>
          </a:xfrm>
          <a:prstGeom prst="rect">
            <a:avLst/>
          </a:prstGeom>
          <a:noFill/>
        </p:spPr>
        <p:txBody>
          <a:bodyPr wrap="square" lIns="0" tIns="0" rIns="0" bIns="0">
            <a:spAutoFit/>
          </a:bodyPr>
          <a:lstStyle/>
          <a:p>
            <a:pPr algn="ctr">
              <a:spcAft>
                <a:spcPts val="400"/>
              </a:spcAft>
              <a:defRPr sz="1250">
                <a:solidFill>
                  <a:srgbClr val="102C57"/>
                </a:solidFill>
                <a:latin typeface="Arial Black"/>
              </a:defRPr>
            </a:pPr>
            <a:r>
              <a:rPr dirty="0">
                <a:solidFill>
                  <a:schemeClr val="tx1">
                    <a:lumMod val="95000"/>
                    <a:lumOff val="5000"/>
                  </a:schemeClr>
                </a:solidFill>
              </a:rPr>
              <a:t>TEAM: DATA ARCHITECTS</a:t>
            </a:r>
          </a:p>
          <a:p>
            <a:pPr algn="ctr">
              <a:spcAft>
                <a:spcPts val="300"/>
              </a:spcAft>
              <a:defRPr sz="1300" b="1">
                <a:solidFill>
                  <a:srgbClr val="1E293B"/>
                </a:solidFill>
                <a:latin typeface="Arial"/>
              </a:defRPr>
            </a:pPr>
            <a:r>
              <a:rPr sz="1600" dirty="0">
                <a:solidFill>
                  <a:schemeClr val="tx1">
                    <a:lumMod val="95000"/>
                    <a:lumOff val="5000"/>
                  </a:schemeClr>
                </a:solidFill>
              </a:rPr>
              <a:t>Awowole Uthman   •   Makinde Teslim   •   Ikeh Emmanuel   •   Soulaymane</a:t>
            </a:r>
            <a:r>
              <a:rPr lang="en-US" sz="1600" dirty="0">
                <a:solidFill>
                  <a:schemeClr val="tx1">
                    <a:lumMod val="95000"/>
                    <a:lumOff val="5000"/>
                  </a:schemeClr>
                </a:solidFill>
              </a:rPr>
              <a:t> </a:t>
            </a:r>
            <a:r>
              <a:rPr sz="1600" dirty="0">
                <a:solidFill>
                  <a:schemeClr val="tx1">
                    <a:lumMod val="95000"/>
                    <a:lumOff val="5000"/>
                  </a:schemeClr>
                </a:solidFill>
              </a:rPr>
              <a:t>Aliya</a:t>
            </a:r>
            <a:r>
              <a:rPr lang="en-US" sz="1600" dirty="0">
                <a:solidFill>
                  <a:schemeClr val="tx1">
                    <a:lumMod val="95000"/>
                    <a:lumOff val="5000"/>
                  </a:schemeClr>
                </a:solidFill>
              </a:rPr>
              <a:t>h</a:t>
            </a:r>
          </a:p>
          <a:p>
            <a:pPr algn="ctr">
              <a:spcAft>
                <a:spcPts val="300"/>
              </a:spcAft>
              <a:defRPr sz="1300" b="1">
                <a:solidFill>
                  <a:srgbClr val="1E293B"/>
                </a:solidFill>
                <a:latin typeface="Arial"/>
              </a:defRPr>
            </a:pPr>
            <a:r>
              <a:rPr lang="en-US" sz="1600" dirty="0">
                <a:solidFill>
                  <a:schemeClr val="tx1">
                    <a:lumMod val="95000"/>
                    <a:lumOff val="5000"/>
                  </a:schemeClr>
                </a:solidFill>
              </a:rPr>
              <a:t> </a:t>
            </a:r>
            <a:r>
              <a:rPr lang="en-US" sz="1000" dirty="0">
                <a:solidFill>
                  <a:schemeClr val="tx1">
                    <a:lumMod val="95000"/>
                    <a:lumOff val="5000"/>
                  </a:schemeClr>
                </a:solidFill>
              </a:rPr>
              <a:t>uthmanawowole@gmail.com  |  </a:t>
            </a:r>
            <a:r>
              <a:rPr lang="en-US" sz="1000" dirty="0">
                <a:solidFill>
                  <a:schemeClr val="tx1">
                    <a:lumMod val="95000"/>
                    <a:lumOff val="5000"/>
                  </a:schemeClr>
                </a:solidFill>
                <a:hlinkClick r:id="rId3">
                  <a:extLst>
                    <a:ext uri="{A12FA001-AC4F-418D-AE19-62706E023703}">
                      <ahyp:hlinkClr xmlns:ahyp="http://schemas.microsoft.com/office/drawing/2018/hyperlinkcolor" val="tx"/>
                    </a:ext>
                  </a:extLst>
                </a:hlinkClick>
              </a:rPr>
              <a:t>makindeteslim10@gmail.com |</a:t>
            </a:r>
            <a:r>
              <a:rPr lang="en-US" sz="1000" dirty="0">
                <a:solidFill>
                  <a:schemeClr val="tx1">
                    <a:lumMod val="95000"/>
                    <a:lumOff val="5000"/>
                  </a:schemeClr>
                </a:solidFill>
              </a:rPr>
              <a:t> </a:t>
            </a:r>
            <a:r>
              <a:rPr lang="en-US" sz="1000" dirty="0">
                <a:solidFill>
                  <a:schemeClr val="tx1">
                    <a:lumMod val="95000"/>
                    <a:lumOff val="5000"/>
                  </a:schemeClr>
                </a:solidFill>
                <a:hlinkClick r:id="rId4"/>
              </a:rPr>
              <a:t>emmanuelikeh2993@gmail.com</a:t>
            </a:r>
            <a:r>
              <a:rPr lang="en-US" sz="1000" dirty="0">
                <a:solidFill>
                  <a:schemeClr val="tx1">
                    <a:lumMod val="95000"/>
                    <a:lumOff val="5000"/>
                  </a:schemeClr>
                </a:solidFill>
              </a:rPr>
              <a:t> |  aliyahsoulaymane@gmail.com</a:t>
            </a:r>
          </a:p>
          <a:p>
            <a:pPr algn="ctr">
              <a:defRPr sz="1150" b="1">
                <a:solidFill>
                  <a:srgbClr val="0D9488"/>
                </a:solidFill>
                <a:latin typeface="Arial"/>
              </a:defRPr>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91672" cy="338554"/>
          </a:xfrm>
          <a:prstGeom prst="rect">
            <a:avLst/>
          </a:prstGeom>
          <a:noFill/>
        </p:spPr>
        <p:txBody>
          <a:bodyPr wrap="square" lIns="0" tIns="0" rIns="0" bIns="0">
            <a:spAutoFit/>
          </a:bodyPr>
          <a:lstStyle/>
          <a:p>
            <a:pPr>
              <a:defRPr sz="2200" b="1">
                <a:solidFill>
                  <a:srgbClr val="102C57"/>
                </a:solidFill>
                <a:latin typeface="Arial"/>
              </a:defRPr>
            </a:pPr>
            <a:r>
              <a:rPr dirty="0"/>
              <a:t>Figure 1: </a:t>
            </a:r>
            <a:r>
              <a:rPr lang="en-US" dirty="0"/>
              <a:t> Data Scope &amp; variable selection</a:t>
            </a:r>
            <a:endParaRPr dirty="0"/>
          </a:p>
        </p:txBody>
      </p:sp>
      <p:pic>
        <p:nvPicPr>
          <p:cNvPr id="5" name="Picture 4" descr="Figure 1: Analytical panel filtering funnel from 237 territories to 155 sovereign nations and indicator completeness audit across 15,655 country-years."/>
          <p:cNvPicPr>
            <a:picLocks noChangeAspect="1"/>
          </p:cNvPicPr>
          <p:nvPr/>
        </p:nvPicPr>
        <p:blipFill>
          <a:blip r:embed="rId3"/>
          <a:stretch>
            <a:fillRect/>
          </a:stretch>
        </p:blipFill>
        <p:spPr>
          <a:xfrm>
            <a:off x="548640" y="948689"/>
            <a:ext cx="11271886" cy="3404235"/>
          </a:xfrm>
          <a:prstGeom prst="rect">
            <a:avLst/>
          </a:prstGeom>
        </p:spPr>
      </p:pic>
      <p:sp>
        <p:nvSpPr>
          <p:cNvPr id="7" name="TextBox 6">
            <a:extLst>
              <a:ext uri="{FF2B5EF4-FFF2-40B4-BE49-F238E27FC236}">
                <a16:creationId xmlns:a16="http://schemas.microsoft.com/office/drawing/2014/main" id="{66C9C3AA-8CE1-4FFF-878A-635E59CC923D}"/>
              </a:ext>
            </a:extLst>
          </p:cNvPr>
          <p:cNvSpPr txBox="1"/>
          <p:nvPr/>
        </p:nvSpPr>
        <p:spPr>
          <a:xfrm>
            <a:off x="316039" y="4162107"/>
            <a:ext cx="11556874" cy="2669898"/>
          </a:xfrm>
          <a:prstGeom prst="rect">
            <a:avLst/>
          </a:prstGeom>
          <a:noFill/>
        </p:spPr>
        <p:txBody>
          <a:bodyPr wrap="square" rtlCol="0">
            <a:spAutoFit/>
          </a:bodyPr>
          <a:lstStyle/>
          <a:p>
            <a:pPr algn="just">
              <a:lnSpc>
                <a:spcPct val="150000"/>
              </a:lnSpc>
              <a:spcAft>
                <a:spcPts val="200"/>
              </a:spcAft>
              <a:defRPr sz="1300" b="1">
                <a:solidFill>
                  <a:srgbClr val="102C57"/>
                </a:solidFill>
                <a:latin typeface="Arial"/>
              </a:defRPr>
            </a:pPr>
            <a:endParaRPr lang="en-US" sz="1400" dirty="0">
              <a:latin typeface="Times New Roman" panose="02020603050405020304" pitchFamily="18" charset="0"/>
              <a:cs typeface="Times New Roman" panose="02020603050405020304" pitchFamily="18" charset="0"/>
            </a:endParaRPr>
          </a:p>
          <a:p>
            <a:pPr algn="just" rtl="0">
              <a:lnSpc>
                <a:spcPct val="150000"/>
              </a:lnSpc>
            </a:pPr>
            <a:r>
              <a:rPr lang="en-US" sz="1400" dirty="0">
                <a:latin typeface="Times New Roman" panose="02020603050405020304" pitchFamily="18" charset="0"/>
                <a:cs typeface="Times New Roman" panose="02020603050405020304" pitchFamily="18" charset="0"/>
              </a:rPr>
              <a:t>On the left, the funnel shows how we narrowed the data. We started with the UN’s raw master file of 237 territories and 35,787 records. We removed 38 regional aggregates and 44 micro territories with fewer than 1 million people in 2000, leaving 155 sovereign nations. Across 101 years, from 1950 to 2050, that gives us a balanced core panel of 15,655 country-years.</a:t>
            </a:r>
          </a:p>
          <a:p>
            <a:pPr algn="just" rtl="0">
              <a:lnSpc>
                <a:spcPct val="150000"/>
              </a:lnSpc>
            </a:pPr>
            <a:r>
              <a:rPr lang="en-US" sz="1400" dirty="0">
                <a:latin typeface="Times New Roman" panose="02020603050405020304" pitchFamily="18" charset="0"/>
                <a:cs typeface="Times New Roman" panose="02020603050405020304" pitchFamily="18" charset="0"/>
              </a:rPr>
              <a:t>On the right, the audit shows our indicators are fully complete: median age, fertility, life expectancy, infant mortality, and more, all at 100 percent. The one exception is doubling time, at 44.5 percent, because it is undefined whenever growth is zero or negative, so we excluded it from the analysis.</a:t>
            </a:r>
          </a:p>
          <a:p>
            <a:pPr algn="just" rtl="0">
              <a:lnSpc>
                <a:spcPct val="150000"/>
              </a:lnSpc>
            </a:pPr>
            <a:r>
              <a:rPr lang="en-US" sz="1400" dirty="0">
                <a:latin typeface="Times New Roman" panose="02020603050405020304" pitchFamily="18" charset="0"/>
                <a:cs typeface="Times New Roman" panose="02020603050405020304" pitchFamily="18" charset="0"/>
              </a:rPr>
              <a:t>Values from 1950 to 2023 are UN estimates, and 2024 to 2050 are UN medium-variant projections. So the analysis rests on a clean, complete, and comparable foundation.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379476" y="91440"/>
            <a:ext cx="11091672" cy="338554"/>
          </a:xfrm>
          <a:prstGeom prst="rect">
            <a:avLst/>
          </a:prstGeom>
          <a:noFill/>
        </p:spPr>
        <p:txBody>
          <a:bodyPr wrap="square" lIns="0" tIns="0" rIns="0" bIns="0">
            <a:spAutoFit/>
          </a:bodyPr>
          <a:lstStyle/>
          <a:p>
            <a:pPr>
              <a:defRPr sz="2200" b="1">
                <a:solidFill>
                  <a:srgbClr val="102C57"/>
                </a:solidFill>
                <a:latin typeface="Arial"/>
              </a:defRPr>
            </a:pPr>
            <a:r>
              <a:rPr dirty="0"/>
              <a:t>Figure 2: </a:t>
            </a:r>
            <a:r>
              <a:rPr lang="en-US" dirty="0"/>
              <a:t>Median Age clustering diagram for </a:t>
            </a:r>
            <a:r>
              <a:rPr dirty="0"/>
              <a:t> (2000, 2020, 2040)</a:t>
            </a:r>
          </a:p>
        </p:txBody>
      </p:sp>
      <p:sp>
        <p:nvSpPr>
          <p:cNvPr id="3" name="Rectangle 2"/>
          <p:cNvSpPr/>
          <p:nvPr/>
        </p:nvSpPr>
        <p:spPr>
          <a:xfrm>
            <a:off x="7466076" y="960120"/>
            <a:ext cx="13716" cy="493776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gure 2: Three-panel grid map comparing median age clusters in 2000 base year, 2020 historical, and 2040 projection."/>
          <p:cNvPicPr>
            <a:picLocks noChangeAspect="1"/>
          </p:cNvPicPr>
          <p:nvPr/>
        </p:nvPicPr>
        <p:blipFill>
          <a:blip r:embed="rId3"/>
          <a:stretch>
            <a:fillRect/>
          </a:stretch>
        </p:blipFill>
        <p:spPr>
          <a:xfrm>
            <a:off x="379476" y="914400"/>
            <a:ext cx="7100316" cy="5120640"/>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3143893708"/>
              </p:ext>
            </p:extLst>
          </p:nvPr>
        </p:nvGraphicFramePr>
        <p:xfrm>
          <a:off x="7781925" y="4699635"/>
          <a:ext cx="4276725" cy="2066925"/>
        </p:xfrm>
        <a:graphic>
          <a:graphicData uri="http://schemas.openxmlformats.org/drawingml/2006/table">
            <a:tbl>
              <a:tblPr firstRow="1" bandRow="1">
                <a:tableStyleId>{5C22544A-7EE6-4342-B048-85BDC9FD1C3A}</a:tableStyleId>
              </a:tblPr>
              <a:tblGrid>
                <a:gridCol w="1102182">
                  <a:extLst>
                    <a:ext uri="{9D8B030D-6E8A-4147-A177-3AD203B41FA5}">
                      <a16:colId xmlns:a16="http://schemas.microsoft.com/office/drawing/2014/main" val="20000"/>
                    </a:ext>
                  </a:extLst>
                </a:gridCol>
                <a:gridCol w="793636">
                  <a:extLst>
                    <a:ext uri="{9D8B030D-6E8A-4147-A177-3AD203B41FA5}">
                      <a16:colId xmlns:a16="http://schemas.microsoft.com/office/drawing/2014/main" val="20001"/>
                    </a:ext>
                  </a:extLst>
                </a:gridCol>
                <a:gridCol w="793636">
                  <a:extLst>
                    <a:ext uri="{9D8B030D-6E8A-4147-A177-3AD203B41FA5}">
                      <a16:colId xmlns:a16="http://schemas.microsoft.com/office/drawing/2014/main" val="20002"/>
                    </a:ext>
                  </a:extLst>
                </a:gridCol>
                <a:gridCol w="843238">
                  <a:extLst>
                    <a:ext uri="{9D8B030D-6E8A-4147-A177-3AD203B41FA5}">
                      <a16:colId xmlns:a16="http://schemas.microsoft.com/office/drawing/2014/main" val="20003"/>
                    </a:ext>
                  </a:extLst>
                </a:gridCol>
                <a:gridCol w="744033">
                  <a:extLst>
                    <a:ext uri="{9D8B030D-6E8A-4147-A177-3AD203B41FA5}">
                      <a16:colId xmlns:a16="http://schemas.microsoft.com/office/drawing/2014/main" val="20004"/>
                    </a:ext>
                  </a:extLst>
                </a:gridCol>
              </a:tblGrid>
              <a:tr h="370738">
                <a:tc>
                  <a:txBody>
                    <a:bodyPr/>
                    <a:lstStyle/>
                    <a:p>
                      <a:pPr>
                        <a:defRPr sz="800" b="1">
                          <a:solidFill>
                            <a:srgbClr val="FFFFFF"/>
                          </a:solidFill>
                          <a:latin typeface="Arial"/>
                        </a:defRPr>
                      </a:pPr>
                      <a:r>
                        <a:rPr sz="1100" b="0" dirty="0">
                          <a:solidFill>
                            <a:schemeClr val="bg1"/>
                          </a:solidFill>
                          <a:latin typeface="Times New Roman" panose="02020603050405020304" pitchFamily="18" charset="0"/>
                          <a:cs typeface="Times New Roman" panose="02020603050405020304" pitchFamily="18" charset="0"/>
                        </a:rPr>
                        <a:t>Group</a:t>
                      </a:r>
                    </a:p>
                  </a:txBody>
                  <a:tcPr>
                    <a:solidFill>
                      <a:srgbClr val="102C57"/>
                    </a:solidFill>
                  </a:tcPr>
                </a:tc>
                <a:tc>
                  <a:txBody>
                    <a:bodyPr/>
                    <a:lstStyle/>
                    <a:p>
                      <a:pPr>
                        <a:defRPr sz="800" b="1">
                          <a:solidFill>
                            <a:srgbClr val="FFFFFF"/>
                          </a:solidFill>
                          <a:latin typeface="Arial"/>
                        </a:defRPr>
                      </a:pPr>
                      <a:r>
                        <a:rPr sz="1100" b="0" dirty="0">
                          <a:solidFill>
                            <a:schemeClr val="bg1"/>
                          </a:solidFill>
                          <a:latin typeface="Times New Roman" panose="02020603050405020304" pitchFamily="18" charset="0"/>
                          <a:cs typeface="Times New Roman" panose="02020603050405020304" pitchFamily="18" charset="0"/>
                        </a:rPr>
                        <a:t>2000</a:t>
                      </a:r>
                    </a:p>
                  </a:txBody>
                  <a:tcPr>
                    <a:solidFill>
                      <a:srgbClr val="102C57"/>
                    </a:solidFill>
                  </a:tcPr>
                </a:tc>
                <a:tc>
                  <a:txBody>
                    <a:bodyPr/>
                    <a:lstStyle/>
                    <a:p>
                      <a:pPr>
                        <a:defRPr sz="800" b="1">
                          <a:solidFill>
                            <a:srgbClr val="FFFFFF"/>
                          </a:solidFill>
                          <a:latin typeface="Arial"/>
                        </a:defRPr>
                      </a:pPr>
                      <a:r>
                        <a:rPr sz="1100" b="0" dirty="0">
                          <a:solidFill>
                            <a:schemeClr val="bg1"/>
                          </a:solidFill>
                          <a:latin typeface="Times New Roman" panose="02020603050405020304" pitchFamily="18" charset="0"/>
                          <a:cs typeface="Times New Roman" panose="02020603050405020304" pitchFamily="18" charset="0"/>
                        </a:rPr>
                        <a:t>2020</a:t>
                      </a:r>
                    </a:p>
                  </a:txBody>
                  <a:tcPr>
                    <a:solidFill>
                      <a:srgbClr val="102C57"/>
                    </a:solidFill>
                  </a:tcPr>
                </a:tc>
                <a:tc>
                  <a:txBody>
                    <a:bodyPr/>
                    <a:lstStyle/>
                    <a:p>
                      <a:pPr>
                        <a:defRPr sz="800" b="1">
                          <a:solidFill>
                            <a:srgbClr val="FFFFFF"/>
                          </a:solidFill>
                          <a:latin typeface="Arial"/>
                        </a:defRPr>
                      </a:pPr>
                      <a:r>
                        <a:rPr sz="1100" b="0" dirty="0">
                          <a:solidFill>
                            <a:schemeClr val="bg1"/>
                          </a:solidFill>
                          <a:latin typeface="Times New Roman" panose="02020603050405020304" pitchFamily="18" charset="0"/>
                          <a:cs typeface="Times New Roman" panose="02020603050405020304" pitchFamily="18" charset="0"/>
                        </a:rPr>
                        <a:t>2040*</a:t>
                      </a:r>
                    </a:p>
                  </a:txBody>
                  <a:tcPr>
                    <a:solidFill>
                      <a:srgbClr val="102C57"/>
                    </a:solidFill>
                  </a:tcPr>
                </a:tc>
                <a:tc>
                  <a:txBody>
                    <a:bodyPr/>
                    <a:lstStyle/>
                    <a:p>
                      <a:pPr>
                        <a:defRPr sz="800" b="1">
                          <a:solidFill>
                            <a:srgbClr val="FFFFFF"/>
                          </a:solidFill>
                          <a:latin typeface="Arial"/>
                        </a:defRPr>
                      </a:pPr>
                      <a:r>
                        <a:rPr sz="1100" b="0" dirty="0">
                          <a:solidFill>
                            <a:schemeClr val="bg1"/>
                          </a:solidFill>
                          <a:latin typeface="Times New Roman" panose="02020603050405020304" pitchFamily="18" charset="0"/>
                          <a:cs typeface="Times New Roman" panose="02020603050405020304" pitchFamily="18" charset="0"/>
                        </a:rPr>
                        <a:t>Shift</a:t>
                      </a:r>
                    </a:p>
                  </a:txBody>
                  <a:tcPr>
                    <a:solidFill>
                      <a:srgbClr val="102C57"/>
                    </a:solidFill>
                  </a:tcPr>
                </a:tc>
                <a:extLst>
                  <a:ext uri="{0D108BD9-81ED-4DB2-BD59-A6C34878D82A}">
                    <a16:rowId xmlns:a16="http://schemas.microsoft.com/office/drawing/2014/main" val="10000"/>
                  </a:ext>
                </a:extLst>
              </a:tr>
              <a:tr h="610625">
                <a:tc>
                  <a:txBody>
                    <a:bodyPr/>
                    <a:lstStyle/>
                    <a:p>
                      <a:pPr>
                        <a:defRPr sz="800" b="1">
                          <a:solidFill>
                            <a:srgbClr val="DC2626"/>
                          </a:solidFill>
                          <a:latin typeface="Arial"/>
                        </a:defRPr>
                      </a:pPr>
                      <a:r>
                        <a:rPr sz="1100" b="0" dirty="0">
                          <a:solidFill>
                            <a:schemeClr val="tx1"/>
                          </a:solidFill>
                          <a:latin typeface="Times New Roman" panose="02020603050405020304" pitchFamily="18" charset="0"/>
                          <a:cs typeface="Times New Roman" panose="02020603050405020304" pitchFamily="18" charset="0"/>
                        </a:rPr>
                        <a:t>Young (&lt;20.6y)</a:t>
                      </a:r>
                    </a:p>
                  </a:txBody>
                  <a:tcPr>
                    <a:solidFill>
                      <a:srgbClr val="F8FAFC"/>
                    </a:solidFill>
                  </a:tcPr>
                </a:tc>
                <a:tc>
                  <a:txBody>
                    <a:bodyPr/>
                    <a:lstStyle/>
                    <a:p>
                      <a:pPr>
                        <a:defRPr sz="800">
                          <a:solidFill>
                            <a:srgbClr val="1E293B"/>
                          </a:solidFill>
                          <a:latin typeface="Arial"/>
                        </a:defRPr>
                      </a:pPr>
                      <a:r>
                        <a:rPr sz="1100" b="0" dirty="0">
                          <a:solidFill>
                            <a:schemeClr val="tx1"/>
                          </a:solidFill>
                          <a:latin typeface="Times New Roman" panose="02020603050405020304" pitchFamily="18" charset="0"/>
                          <a:cs typeface="Times New Roman" panose="02020603050405020304" pitchFamily="18" charset="0"/>
                        </a:rPr>
                        <a:t>68 (44%)</a:t>
                      </a:r>
                    </a:p>
                  </a:txBody>
                  <a:tcPr>
                    <a:solidFill>
                      <a:srgbClr val="F8FAFC"/>
                    </a:solidFill>
                  </a:tcPr>
                </a:tc>
                <a:tc>
                  <a:txBody>
                    <a:bodyPr/>
                    <a:lstStyle/>
                    <a:p>
                      <a:pPr>
                        <a:defRPr sz="800">
                          <a:solidFill>
                            <a:srgbClr val="1E293B"/>
                          </a:solidFill>
                          <a:latin typeface="Arial"/>
                        </a:defRPr>
                      </a:pPr>
                      <a:r>
                        <a:rPr sz="1100" b="0" dirty="0">
                          <a:solidFill>
                            <a:schemeClr val="tx1"/>
                          </a:solidFill>
                          <a:latin typeface="Times New Roman" panose="02020603050405020304" pitchFamily="18" charset="0"/>
                          <a:cs typeface="Times New Roman" panose="02020603050405020304" pitchFamily="18" charset="0"/>
                        </a:rPr>
                        <a:t>42 (27%)</a:t>
                      </a:r>
                    </a:p>
                  </a:txBody>
                  <a:tcPr>
                    <a:solidFill>
                      <a:srgbClr val="F8FAFC"/>
                    </a:solidFill>
                  </a:tcPr>
                </a:tc>
                <a:tc>
                  <a:txBody>
                    <a:bodyPr/>
                    <a:lstStyle/>
                    <a:p>
                      <a:pPr>
                        <a:defRPr sz="800">
                          <a:solidFill>
                            <a:srgbClr val="1E293B"/>
                          </a:solidFill>
                          <a:latin typeface="Arial"/>
                        </a:defRPr>
                      </a:pPr>
                      <a:r>
                        <a:rPr sz="1100" b="0">
                          <a:solidFill>
                            <a:schemeClr val="tx1"/>
                          </a:solidFill>
                          <a:latin typeface="Times New Roman" panose="02020603050405020304" pitchFamily="18" charset="0"/>
                          <a:cs typeface="Times New Roman" panose="02020603050405020304" pitchFamily="18" charset="0"/>
                        </a:rPr>
                        <a:t>12 (8%)</a:t>
                      </a:r>
                    </a:p>
                  </a:txBody>
                  <a:tcPr>
                    <a:solidFill>
                      <a:srgbClr val="F8FAFC"/>
                    </a:solidFill>
                  </a:tcPr>
                </a:tc>
                <a:tc>
                  <a:txBody>
                    <a:bodyPr/>
                    <a:lstStyle/>
                    <a:p>
                      <a:pPr>
                        <a:defRPr sz="800" b="1">
                          <a:solidFill>
                            <a:srgbClr val="102C57"/>
                          </a:solidFill>
                          <a:latin typeface="Arial"/>
                        </a:defRPr>
                      </a:pPr>
                      <a:r>
                        <a:rPr sz="1100" b="0">
                          <a:solidFill>
                            <a:schemeClr val="tx1"/>
                          </a:solidFill>
                          <a:latin typeface="Times New Roman" panose="02020603050405020304" pitchFamily="18" charset="0"/>
                          <a:cs typeface="Times New Roman" panose="02020603050405020304" pitchFamily="18" charset="0"/>
                        </a:rPr>
                        <a:t>-56</a:t>
                      </a:r>
                    </a:p>
                  </a:txBody>
                  <a:tcPr>
                    <a:solidFill>
                      <a:srgbClr val="F8FAFC"/>
                    </a:solidFill>
                  </a:tcPr>
                </a:tc>
                <a:extLst>
                  <a:ext uri="{0D108BD9-81ED-4DB2-BD59-A6C34878D82A}">
                    <a16:rowId xmlns:a16="http://schemas.microsoft.com/office/drawing/2014/main" val="10001"/>
                  </a:ext>
                </a:extLst>
              </a:tr>
              <a:tr h="610625">
                <a:tc>
                  <a:txBody>
                    <a:bodyPr/>
                    <a:lstStyle/>
                    <a:p>
                      <a:pPr>
                        <a:defRPr sz="800" b="1">
                          <a:solidFill>
                            <a:srgbClr val="D97706"/>
                          </a:solidFill>
                          <a:latin typeface="Arial"/>
                        </a:defRPr>
                      </a:pPr>
                      <a:r>
                        <a:rPr sz="1100" b="0">
                          <a:solidFill>
                            <a:schemeClr val="tx1"/>
                          </a:solidFill>
                          <a:latin typeface="Times New Roman" panose="02020603050405020304" pitchFamily="18" charset="0"/>
                          <a:cs typeface="Times New Roman" panose="02020603050405020304" pitchFamily="18" charset="0"/>
                        </a:rPr>
                        <a:t>Middle (20.6–29.9y)</a:t>
                      </a:r>
                    </a:p>
                  </a:txBody>
                  <a:tcPr>
                    <a:solidFill>
                      <a:srgbClr val="F8FAFC"/>
                    </a:solidFill>
                  </a:tcPr>
                </a:tc>
                <a:tc>
                  <a:txBody>
                    <a:bodyPr/>
                    <a:lstStyle/>
                    <a:p>
                      <a:pPr>
                        <a:defRPr sz="800">
                          <a:solidFill>
                            <a:srgbClr val="1E293B"/>
                          </a:solidFill>
                          <a:latin typeface="Arial"/>
                        </a:defRPr>
                      </a:pPr>
                      <a:r>
                        <a:rPr sz="1100" b="0" dirty="0">
                          <a:solidFill>
                            <a:schemeClr val="tx1"/>
                          </a:solidFill>
                          <a:latin typeface="Times New Roman" panose="02020603050405020304" pitchFamily="18" charset="0"/>
                          <a:cs typeface="Times New Roman" panose="02020603050405020304" pitchFamily="18" charset="0"/>
                        </a:rPr>
                        <a:t>40 (26%)</a:t>
                      </a:r>
                    </a:p>
                  </a:txBody>
                  <a:tcPr>
                    <a:solidFill>
                      <a:srgbClr val="F8FAFC"/>
                    </a:solidFill>
                  </a:tcPr>
                </a:tc>
                <a:tc>
                  <a:txBody>
                    <a:bodyPr/>
                    <a:lstStyle/>
                    <a:p>
                      <a:pPr>
                        <a:defRPr sz="800">
                          <a:solidFill>
                            <a:srgbClr val="1E293B"/>
                          </a:solidFill>
                          <a:latin typeface="Arial"/>
                        </a:defRPr>
                      </a:pPr>
                      <a:r>
                        <a:rPr sz="1100" b="0">
                          <a:solidFill>
                            <a:schemeClr val="tx1"/>
                          </a:solidFill>
                          <a:latin typeface="Times New Roman" panose="02020603050405020304" pitchFamily="18" charset="0"/>
                          <a:cs typeface="Times New Roman" panose="02020603050405020304" pitchFamily="18" charset="0"/>
                        </a:rPr>
                        <a:t>45 (29%)</a:t>
                      </a:r>
                    </a:p>
                  </a:txBody>
                  <a:tcPr>
                    <a:solidFill>
                      <a:srgbClr val="F8FAFC"/>
                    </a:solidFill>
                  </a:tcPr>
                </a:tc>
                <a:tc>
                  <a:txBody>
                    <a:bodyPr/>
                    <a:lstStyle/>
                    <a:p>
                      <a:pPr>
                        <a:defRPr sz="800">
                          <a:solidFill>
                            <a:srgbClr val="1E293B"/>
                          </a:solidFill>
                          <a:latin typeface="Arial"/>
                        </a:defRPr>
                      </a:pPr>
                      <a:r>
                        <a:rPr sz="1100" b="0">
                          <a:solidFill>
                            <a:schemeClr val="tx1"/>
                          </a:solidFill>
                          <a:latin typeface="Times New Roman" panose="02020603050405020304" pitchFamily="18" charset="0"/>
                          <a:cs typeface="Times New Roman" panose="02020603050405020304" pitchFamily="18" charset="0"/>
                        </a:rPr>
                        <a:t>49 (32%)</a:t>
                      </a:r>
                    </a:p>
                  </a:txBody>
                  <a:tcPr>
                    <a:solidFill>
                      <a:srgbClr val="F8FAFC"/>
                    </a:solidFill>
                  </a:tcPr>
                </a:tc>
                <a:tc>
                  <a:txBody>
                    <a:bodyPr/>
                    <a:lstStyle/>
                    <a:p>
                      <a:pPr>
                        <a:defRPr sz="800" b="1">
                          <a:solidFill>
                            <a:srgbClr val="102C57"/>
                          </a:solidFill>
                          <a:latin typeface="Arial"/>
                        </a:defRPr>
                      </a:pPr>
                      <a:r>
                        <a:rPr sz="1100" b="0">
                          <a:solidFill>
                            <a:schemeClr val="tx1"/>
                          </a:solidFill>
                          <a:latin typeface="Times New Roman" panose="02020603050405020304" pitchFamily="18" charset="0"/>
                          <a:cs typeface="Times New Roman" panose="02020603050405020304" pitchFamily="18" charset="0"/>
                        </a:rPr>
                        <a:t>+9</a:t>
                      </a:r>
                    </a:p>
                  </a:txBody>
                  <a:tcPr>
                    <a:solidFill>
                      <a:srgbClr val="F8FAFC"/>
                    </a:solidFill>
                  </a:tcPr>
                </a:tc>
                <a:extLst>
                  <a:ext uri="{0D108BD9-81ED-4DB2-BD59-A6C34878D82A}">
                    <a16:rowId xmlns:a16="http://schemas.microsoft.com/office/drawing/2014/main" val="10002"/>
                  </a:ext>
                </a:extLst>
              </a:tr>
              <a:tr h="474937">
                <a:tc>
                  <a:txBody>
                    <a:bodyPr/>
                    <a:lstStyle/>
                    <a:p>
                      <a:pPr>
                        <a:defRPr sz="800" b="1">
                          <a:solidFill>
                            <a:srgbClr val="4575B4"/>
                          </a:solidFill>
                          <a:latin typeface="Arial"/>
                        </a:defRPr>
                      </a:pPr>
                      <a:r>
                        <a:rPr sz="1100" b="0">
                          <a:solidFill>
                            <a:schemeClr val="tx1"/>
                          </a:solidFill>
                          <a:latin typeface="Times New Roman" panose="02020603050405020304" pitchFamily="18" charset="0"/>
                          <a:cs typeface="Times New Roman" panose="02020603050405020304" pitchFamily="18" charset="0"/>
                        </a:rPr>
                        <a:t>Old (&gt;29.9y)</a:t>
                      </a:r>
                    </a:p>
                  </a:txBody>
                  <a:tcPr>
                    <a:solidFill>
                      <a:srgbClr val="F8FAFC"/>
                    </a:solidFill>
                  </a:tcPr>
                </a:tc>
                <a:tc>
                  <a:txBody>
                    <a:bodyPr/>
                    <a:lstStyle/>
                    <a:p>
                      <a:pPr>
                        <a:defRPr sz="800">
                          <a:solidFill>
                            <a:srgbClr val="1E293B"/>
                          </a:solidFill>
                          <a:latin typeface="Arial"/>
                        </a:defRPr>
                      </a:pPr>
                      <a:r>
                        <a:rPr sz="1100" b="0" dirty="0">
                          <a:solidFill>
                            <a:schemeClr val="tx1"/>
                          </a:solidFill>
                          <a:latin typeface="Times New Roman" panose="02020603050405020304" pitchFamily="18" charset="0"/>
                          <a:cs typeface="Times New Roman" panose="02020603050405020304" pitchFamily="18" charset="0"/>
                        </a:rPr>
                        <a:t>47 (30%)</a:t>
                      </a:r>
                    </a:p>
                  </a:txBody>
                  <a:tcPr>
                    <a:solidFill>
                      <a:srgbClr val="F8FAFC"/>
                    </a:solidFill>
                  </a:tcPr>
                </a:tc>
                <a:tc>
                  <a:txBody>
                    <a:bodyPr/>
                    <a:lstStyle/>
                    <a:p>
                      <a:pPr>
                        <a:defRPr sz="800">
                          <a:solidFill>
                            <a:srgbClr val="1E293B"/>
                          </a:solidFill>
                          <a:latin typeface="Arial"/>
                        </a:defRPr>
                      </a:pPr>
                      <a:r>
                        <a:rPr sz="1100" b="0">
                          <a:solidFill>
                            <a:schemeClr val="tx1"/>
                          </a:solidFill>
                          <a:latin typeface="Times New Roman" panose="02020603050405020304" pitchFamily="18" charset="0"/>
                          <a:cs typeface="Times New Roman" panose="02020603050405020304" pitchFamily="18" charset="0"/>
                        </a:rPr>
                        <a:t>68 (44%)</a:t>
                      </a:r>
                    </a:p>
                  </a:txBody>
                  <a:tcPr>
                    <a:solidFill>
                      <a:srgbClr val="F8FAFC"/>
                    </a:solidFill>
                  </a:tcPr>
                </a:tc>
                <a:tc>
                  <a:txBody>
                    <a:bodyPr/>
                    <a:lstStyle/>
                    <a:p>
                      <a:pPr>
                        <a:defRPr sz="800">
                          <a:solidFill>
                            <a:srgbClr val="1E293B"/>
                          </a:solidFill>
                          <a:latin typeface="Arial"/>
                        </a:defRPr>
                      </a:pPr>
                      <a:r>
                        <a:rPr sz="1100" b="0" dirty="0">
                          <a:solidFill>
                            <a:schemeClr val="tx1"/>
                          </a:solidFill>
                          <a:latin typeface="Times New Roman" panose="02020603050405020304" pitchFamily="18" charset="0"/>
                          <a:cs typeface="Times New Roman" panose="02020603050405020304" pitchFamily="18" charset="0"/>
                        </a:rPr>
                        <a:t>94 (61%)</a:t>
                      </a:r>
                    </a:p>
                  </a:txBody>
                  <a:tcPr>
                    <a:solidFill>
                      <a:srgbClr val="F8FAFC"/>
                    </a:solidFill>
                  </a:tcPr>
                </a:tc>
                <a:tc>
                  <a:txBody>
                    <a:bodyPr/>
                    <a:lstStyle/>
                    <a:p>
                      <a:pPr>
                        <a:defRPr sz="800" b="1">
                          <a:solidFill>
                            <a:srgbClr val="102C57"/>
                          </a:solidFill>
                          <a:latin typeface="Arial"/>
                        </a:defRPr>
                      </a:pPr>
                      <a:r>
                        <a:rPr sz="1100" b="0" dirty="0">
                          <a:solidFill>
                            <a:schemeClr val="tx1"/>
                          </a:solidFill>
                          <a:latin typeface="Times New Roman" panose="02020603050405020304" pitchFamily="18" charset="0"/>
                          <a:cs typeface="Times New Roman" panose="02020603050405020304" pitchFamily="18" charset="0"/>
                        </a:rPr>
                        <a:t>+47</a:t>
                      </a:r>
                    </a:p>
                  </a:txBody>
                  <a:tcPr>
                    <a:solidFill>
                      <a:srgbClr val="F8FAFC"/>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7661528" y="895734"/>
            <a:ext cx="4397121" cy="3428615"/>
          </a:xfrm>
          <a:prstGeom prst="rect">
            <a:avLst/>
          </a:prstGeom>
          <a:noFill/>
        </p:spPr>
        <p:txBody>
          <a:bodyPr wrap="square" lIns="0" tIns="0" rIns="0" bIns="0">
            <a:spAutoFit/>
          </a:bodyPr>
          <a:lstStyle/>
          <a:p>
            <a:pPr algn="just">
              <a:lnSpc>
                <a:spcPct val="200000"/>
              </a:lnSpc>
              <a:defRPr sz="950">
                <a:solidFill>
                  <a:srgbClr val="1E293B"/>
                </a:solidFill>
                <a:latin typeface="Arial"/>
              </a:defRPr>
            </a:pPr>
            <a:endParaRPr lang="en-US" sz="11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rtl="0">
              <a:lnSpc>
                <a:spcPct val="200000"/>
              </a:lnSpc>
            </a:pPr>
            <a:r>
              <a:rPr lang="en-US" sz="1100" dirty="0">
                <a:solidFill>
                  <a:schemeClr val="tx1">
                    <a:lumMod val="95000"/>
                    <a:lumOff val="5000"/>
                  </a:schemeClr>
                </a:solidFill>
                <a:latin typeface="Times New Roman" panose="02020603050405020304" pitchFamily="18" charset="0"/>
                <a:cs typeface="Times New Roman" panose="02020603050405020304" pitchFamily="18" charset="0"/>
              </a:rPr>
              <a:t>On the left, the maps show how countries cluster by median age in 2000, 2020, and 2040, using the year-2000 baseline: Young below 20.6, Middle up to 29.9, and Old above that.</a:t>
            </a:r>
          </a:p>
          <a:p>
            <a:pPr algn="just" rtl="0">
              <a:lnSpc>
                <a:spcPct val="200000"/>
              </a:lnSpc>
            </a:pPr>
            <a:r>
              <a:rPr lang="en-US" sz="1100" dirty="0">
                <a:solidFill>
                  <a:schemeClr val="tx1">
                    <a:lumMod val="95000"/>
                    <a:lumOff val="5000"/>
                  </a:schemeClr>
                </a:solidFill>
                <a:latin typeface="Times New Roman" panose="02020603050405020304" pitchFamily="18" charset="0"/>
                <a:cs typeface="Times New Roman" panose="02020603050405020304" pitchFamily="18" charset="0"/>
              </a:rPr>
              <a:t>In 2000, 68 </a:t>
            </a:r>
            <a:r>
              <a:rPr lang="en-US" sz="1200" dirty="0">
                <a:solidFill>
                  <a:schemeClr val="tx1">
                    <a:lumMod val="95000"/>
                    <a:lumOff val="5000"/>
                  </a:schemeClr>
                </a:solidFill>
                <a:latin typeface="Times New Roman" panose="02020603050405020304" pitchFamily="18" charset="0"/>
                <a:cs typeface="Times New Roman" panose="02020603050405020304" pitchFamily="18" charset="0"/>
              </a:rPr>
              <a:t>countries</a:t>
            </a:r>
            <a:r>
              <a:rPr lang="en-US" sz="1100" dirty="0">
                <a:solidFill>
                  <a:schemeClr val="tx1">
                    <a:lumMod val="95000"/>
                    <a:lumOff val="5000"/>
                  </a:schemeClr>
                </a:solidFill>
                <a:latin typeface="Times New Roman" panose="02020603050405020304" pitchFamily="18" charset="0"/>
                <a:cs typeface="Times New Roman" panose="02020603050405020304" pitchFamily="18" charset="0"/>
              </a:rPr>
              <a:t> were young. By 2020, that fell to 42, while old nations rose to 68. By 2040, the UN projects only 12 young countries, about 8 percent, against 94 old ones, roughly 61 percent.</a:t>
            </a:r>
          </a:p>
          <a:p>
            <a:pPr algn="just" rtl="0">
              <a:lnSpc>
                <a:spcPct val="200000"/>
              </a:lnSpc>
            </a:pPr>
            <a:r>
              <a:rPr lang="en-US" sz="1100" dirty="0">
                <a:solidFill>
                  <a:schemeClr val="tx1">
                    <a:lumMod val="95000"/>
                    <a:lumOff val="5000"/>
                  </a:schemeClr>
                </a:solidFill>
                <a:latin typeface="Times New Roman" panose="02020603050405020304" pitchFamily="18" charset="0"/>
                <a:cs typeface="Times New Roman" panose="02020603050405020304" pitchFamily="18" charset="0"/>
              </a:rPr>
              <a:t>We believe this is not a passing trend but a lasting shift. Within four decades, older societies will outnumber youthful nations by nearly eight to one, a permanent restructuring of global demographics.</a:t>
            </a:r>
          </a:p>
        </p:txBody>
      </p:sp>
      <p:pic>
        <p:nvPicPr>
          <p:cNvPr id="9" name="Picture 8" descr="Figure 2: Three-panel grid map comparing median age clusters in 2000 base year, 2020 historical, and 2040 projection.">
            <a:extLst>
              <a:ext uri="{FF2B5EF4-FFF2-40B4-BE49-F238E27FC236}">
                <a16:creationId xmlns:a16="http://schemas.microsoft.com/office/drawing/2014/main" id="{2A707BE3-88C0-431E-B94A-2FAEBF2B3296}"/>
              </a:ext>
            </a:extLst>
          </p:cNvPr>
          <p:cNvPicPr>
            <a:picLocks noChangeAspect="1"/>
          </p:cNvPicPr>
          <p:nvPr/>
        </p:nvPicPr>
        <p:blipFill>
          <a:blip r:embed="rId3"/>
          <a:stretch>
            <a:fillRect/>
          </a:stretch>
        </p:blipFill>
        <p:spPr>
          <a:xfrm>
            <a:off x="531876" y="822960"/>
            <a:ext cx="6522339" cy="58635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91672" cy="338554"/>
          </a:xfrm>
          <a:prstGeom prst="rect">
            <a:avLst/>
          </a:prstGeom>
          <a:noFill/>
        </p:spPr>
        <p:txBody>
          <a:bodyPr wrap="square" lIns="0" tIns="0" rIns="0" bIns="0">
            <a:spAutoFit/>
          </a:bodyPr>
          <a:lstStyle/>
          <a:p>
            <a:pPr>
              <a:defRPr sz="2200" b="1">
                <a:solidFill>
                  <a:srgbClr val="102C57"/>
                </a:solidFill>
                <a:latin typeface="Arial"/>
              </a:defRPr>
            </a:pPr>
            <a:r>
              <a:rPr lang="en-US" dirty="0"/>
              <a:t> Drivers of median age </a:t>
            </a:r>
            <a:endParaRPr dirty="0"/>
          </a:p>
        </p:txBody>
      </p:sp>
      <p:sp>
        <p:nvSpPr>
          <p:cNvPr id="3" name="Rectangle 2"/>
          <p:cNvSpPr/>
          <p:nvPr/>
        </p:nvSpPr>
        <p:spPr>
          <a:xfrm>
            <a:off x="7635240" y="1234440"/>
            <a:ext cx="13716" cy="493776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4094069" cy="146194"/>
          </a:xfrm>
          <a:prstGeom prst="rect">
            <a:avLst/>
          </a:prstGeom>
          <a:noFill/>
        </p:spPr>
        <p:txBody>
          <a:bodyPr wrap="none" lIns="0" tIns="0" rIns="0" bIns="0">
            <a:spAutoFit/>
          </a:bodyPr>
          <a:lstStyle/>
          <a:p>
            <a:pPr>
              <a:defRPr sz="950">
                <a:solidFill>
                  <a:srgbClr val="64748B"/>
                </a:solidFill>
                <a:latin typeface="Arial"/>
              </a:defRPr>
            </a:pPr>
            <a:r>
              <a:rPr dirty="0"/>
              <a:t>Data Architects | ASA </a:t>
            </a:r>
            <a:r>
              <a:rPr dirty="0" err="1"/>
              <a:t>DataQuest</a:t>
            </a:r>
            <a:r>
              <a:rPr dirty="0"/>
              <a:t> 2026  •  The Silver Tsunami  •  Slide </a:t>
            </a:r>
            <a:r>
              <a:rPr lang="en-US" dirty="0"/>
              <a:t>5</a:t>
            </a:r>
            <a:r>
              <a:rPr dirty="0"/>
              <a:t> of 6</a:t>
            </a:r>
          </a:p>
        </p:txBody>
      </p:sp>
      <p:pic>
        <p:nvPicPr>
          <p:cNvPr id="5" name="Picture 4" descr="Figure 4: Scatter plot and driver comparison showing that longer life spans are the primary cause of rising median ages."/>
          <p:cNvPicPr>
            <a:picLocks noChangeAspect="1"/>
          </p:cNvPicPr>
          <p:nvPr/>
        </p:nvPicPr>
        <p:blipFill>
          <a:blip r:embed="rId3"/>
          <a:stretch>
            <a:fillRect/>
          </a:stretch>
        </p:blipFill>
        <p:spPr>
          <a:xfrm>
            <a:off x="548640" y="1188720"/>
            <a:ext cx="6903720" cy="4846320"/>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112708846"/>
              </p:ext>
            </p:extLst>
          </p:nvPr>
        </p:nvGraphicFramePr>
        <p:xfrm>
          <a:off x="7946707" y="5111628"/>
          <a:ext cx="3931920" cy="1197732"/>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25584">
                <a:tc>
                  <a:txBody>
                    <a:bodyPr/>
                    <a:lstStyle/>
                    <a:p>
                      <a:pPr>
                        <a:defRPr sz="850" b="1">
                          <a:solidFill>
                            <a:srgbClr val="FFFFFF"/>
                          </a:solidFill>
                          <a:latin typeface="Arial"/>
                        </a:defRPr>
                      </a:pPr>
                      <a:r>
                        <a:rPr dirty="0"/>
                        <a:t>Factor</a:t>
                      </a:r>
                    </a:p>
                  </a:txBody>
                  <a:tcPr>
                    <a:solidFill>
                      <a:srgbClr val="102C57"/>
                    </a:solidFill>
                  </a:tcPr>
                </a:tc>
                <a:tc>
                  <a:txBody>
                    <a:bodyPr/>
                    <a:lstStyle/>
                    <a:p>
                      <a:pPr>
                        <a:defRPr sz="850" b="1">
                          <a:solidFill>
                            <a:srgbClr val="FFFFFF"/>
                          </a:solidFill>
                          <a:latin typeface="Arial"/>
                        </a:defRPr>
                      </a:pPr>
                      <a:r>
                        <a:t>Effect (β)</a:t>
                      </a:r>
                    </a:p>
                  </a:txBody>
                  <a:tcPr>
                    <a:solidFill>
                      <a:srgbClr val="102C57"/>
                    </a:solidFill>
                  </a:tcPr>
                </a:tc>
                <a:tc>
                  <a:txBody>
                    <a:bodyPr/>
                    <a:lstStyle/>
                    <a:p>
                      <a:pPr>
                        <a:defRPr sz="850" b="1">
                          <a:solidFill>
                            <a:srgbClr val="FFFFFF"/>
                          </a:solidFill>
                          <a:latin typeface="Arial"/>
                        </a:defRPr>
                      </a:pPr>
                      <a:r>
                        <a:t>t-Stat</a:t>
                      </a:r>
                    </a:p>
                  </a:txBody>
                  <a:tcPr>
                    <a:solidFill>
                      <a:srgbClr val="102C57"/>
                    </a:solidFill>
                  </a:tcPr>
                </a:tc>
                <a:tc>
                  <a:txBody>
                    <a:bodyPr/>
                    <a:lstStyle/>
                    <a:p>
                      <a:pPr>
                        <a:defRPr sz="850" b="1">
                          <a:solidFill>
                            <a:srgbClr val="FFFFFF"/>
                          </a:solidFill>
                          <a:latin typeface="Arial"/>
                        </a:defRPr>
                      </a:pPr>
                      <a:r>
                        <a:t>p-Value</a:t>
                      </a:r>
                    </a:p>
                  </a:txBody>
                  <a:tcPr>
                    <a:solidFill>
                      <a:srgbClr val="102C57"/>
                    </a:solidFill>
                  </a:tcPr>
                </a:tc>
                <a:extLst>
                  <a:ext uri="{0D108BD9-81ED-4DB2-BD59-A6C34878D82A}">
                    <a16:rowId xmlns:a16="http://schemas.microsoft.com/office/drawing/2014/main" val="10000"/>
                  </a:ext>
                </a:extLst>
              </a:tr>
              <a:tr h="325584">
                <a:tc>
                  <a:txBody>
                    <a:bodyPr/>
                    <a:lstStyle/>
                    <a:p>
                      <a:pPr>
                        <a:defRPr sz="850" b="1">
                          <a:solidFill>
                            <a:srgbClr val="102C57"/>
                          </a:solidFill>
                          <a:latin typeface="Arial"/>
                        </a:defRPr>
                      </a:pPr>
                      <a:r>
                        <a:t>Life Expectancy</a:t>
                      </a:r>
                    </a:p>
                  </a:txBody>
                  <a:tcPr>
                    <a:solidFill>
                      <a:srgbClr val="F8FAFC"/>
                    </a:solidFill>
                  </a:tcPr>
                </a:tc>
                <a:tc>
                  <a:txBody>
                    <a:bodyPr/>
                    <a:lstStyle/>
                    <a:p>
                      <a:pPr>
                        <a:defRPr sz="850">
                          <a:solidFill>
                            <a:srgbClr val="1E293B"/>
                          </a:solidFill>
                          <a:latin typeface="Arial"/>
                        </a:defRPr>
                      </a:pPr>
                      <a:r>
                        <a:t>+0.403</a:t>
                      </a:r>
                    </a:p>
                  </a:txBody>
                  <a:tcPr>
                    <a:solidFill>
                      <a:srgbClr val="F8FAFC"/>
                    </a:solidFill>
                  </a:tcPr>
                </a:tc>
                <a:tc>
                  <a:txBody>
                    <a:bodyPr/>
                    <a:lstStyle/>
                    <a:p>
                      <a:pPr>
                        <a:defRPr sz="850">
                          <a:solidFill>
                            <a:srgbClr val="1E293B"/>
                          </a:solidFill>
                          <a:latin typeface="Arial"/>
                        </a:defRPr>
                      </a:pPr>
                      <a:r>
                        <a:t>6.09</a:t>
                      </a:r>
                    </a:p>
                  </a:txBody>
                  <a:tcPr>
                    <a:solidFill>
                      <a:srgbClr val="F8FAFC"/>
                    </a:solidFill>
                  </a:tcPr>
                </a:tc>
                <a:tc>
                  <a:txBody>
                    <a:bodyPr/>
                    <a:lstStyle/>
                    <a:p>
                      <a:pPr>
                        <a:defRPr sz="850">
                          <a:solidFill>
                            <a:srgbClr val="1E293B"/>
                          </a:solidFill>
                          <a:latin typeface="Arial"/>
                        </a:defRPr>
                      </a:pPr>
                      <a:r>
                        <a:t>&lt; 0.001</a:t>
                      </a:r>
                    </a:p>
                  </a:txBody>
                  <a:tcPr>
                    <a:solidFill>
                      <a:srgbClr val="F8FAFC"/>
                    </a:solidFill>
                  </a:tcPr>
                </a:tc>
                <a:extLst>
                  <a:ext uri="{0D108BD9-81ED-4DB2-BD59-A6C34878D82A}">
                    <a16:rowId xmlns:a16="http://schemas.microsoft.com/office/drawing/2014/main" val="10001"/>
                  </a:ext>
                </a:extLst>
              </a:tr>
              <a:tr h="325584">
                <a:tc>
                  <a:txBody>
                    <a:bodyPr/>
                    <a:lstStyle/>
                    <a:p>
                      <a:pPr>
                        <a:defRPr sz="850" b="1">
                          <a:solidFill>
                            <a:srgbClr val="102C57"/>
                          </a:solidFill>
                          <a:latin typeface="Arial"/>
                        </a:defRPr>
                      </a:pPr>
                      <a:r>
                        <a:t>Birth Rate (TFR)</a:t>
                      </a:r>
                    </a:p>
                  </a:txBody>
                  <a:tcPr>
                    <a:solidFill>
                      <a:srgbClr val="F8FAFC"/>
                    </a:solidFill>
                  </a:tcPr>
                </a:tc>
                <a:tc>
                  <a:txBody>
                    <a:bodyPr/>
                    <a:lstStyle/>
                    <a:p>
                      <a:pPr>
                        <a:defRPr sz="850">
                          <a:solidFill>
                            <a:srgbClr val="1E293B"/>
                          </a:solidFill>
                          <a:latin typeface="Arial"/>
                        </a:defRPr>
                      </a:pPr>
                      <a:r>
                        <a:t>-0.532</a:t>
                      </a:r>
                    </a:p>
                  </a:txBody>
                  <a:tcPr>
                    <a:solidFill>
                      <a:srgbClr val="F8FAFC"/>
                    </a:solidFill>
                  </a:tcPr>
                </a:tc>
                <a:tc>
                  <a:txBody>
                    <a:bodyPr/>
                    <a:lstStyle/>
                    <a:p>
                      <a:pPr>
                        <a:defRPr sz="850">
                          <a:solidFill>
                            <a:srgbClr val="1E293B"/>
                          </a:solidFill>
                          <a:latin typeface="Arial"/>
                        </a:defRPr>
                      </a:pPr>
                      <a:r>
                        <a:t>-8.03</a:t>
                      </a:r>
                    </a:p>
                  </a:txBody>
                  <a:tcPr>
                    <a:solidFill>
                      <a:srgbClr val="F8FAFC"/>
                    </a:solidFill>
                  </a:tcPr>
                </a:tc>
                <a:tc>
                  <a:txBody>
                    <a:bodyPr/>
                    <a:lstStyle/>
                    <a:p>
                      <a:pPr>
                        <a:defRPr sz="850">
                          <a:solidFill>
                            <a:srgbClr val="1E293B"/>
                          </a:solidFill>
                          <a:latin typeface="Arial"/>
                        </a:defRPr>
                      </a:pPr>
                      <a:r>
                        <a:t>&lt; 0.001</a:t>
                      </a:r>
                    </a:p>
                  </a:txBody>
                  <a:tcPr>
                    <a:solidFill>
                      <a:srgbClr val="F8FAFC"/>
                    </a:solidFill>
                  </a:tcPr>
                </a:tc>
                <a:extLst>
                  <a:ext uri="{0D108BD9-81ED-4DB2-BD59-A6C34878D82A}">
                    <a16:rowId xmlns:a16="http://schemas.microsoft.com/office/drawing/2014/main" val="10002"/>
                  </a:ext>
                </a:extLst>
              </a:tr>
              <a:tr h="0">
                <a:tc>
                  <a:txBody>
                    <a:bodyPr/>
                    <a:lstStyle/>
                    <a:p>
                      <a:pPr>
                        <a:defRPr sz="850" b="1">
                          <a:solidFill>
                            <a:srgbClr val="102C57"/>
                          </a:solidFill>
                          <a:latin typeface="Arial"/>
                        </a:defRPr>
                      </a:pPr>
                      <a:r>
                        <a:t>Full Model (R²)</a:t>
                      </a:r>
                    </a:p>
                  </a:txBody>
                  <a:tcPr>
                    <a:solidFill>
                      <a:srgbClr val="F8FAFC"/>
                    </a:solidFill>
                  </a:tcPr>
                </a:tc>
                <a:tc>
                  <a:txBody>
                    <a:bodyPr/>
                    <a:lstStyle/>
                    <a:p>
                      <a:pPr>
                        <a:defRPr sz="850">
                          <a:solidFill>
                            <a:srgbClr val="1E293B"/>
                          </a:solidFill>
                          <a:latin typeface="Arial"/>
                        </a:defRPr>
                      </a:pPr>
                      <a:r>
                        <a:t>0.806</a:t>
                      </a:r>
                    </a:p>
                  </a:txBody>
                  <a:tcPr>
                    <a:solidFill>
                      <a:srgbClr val="F8FAFC"/>
                    </a:solidFill>
                  </a:tcPr>
                </a:tc>
                <a:tc>
                  <a:txBody>
                    <a:bodyPr/>
                    <a:lstStyle/>
                    <a:p>
                      <a:pPr>
                        <a:defRPr sz="850">
                          <a:solidFill>
                            <a:srgbClr val="1E293B"/>
                          </a:solidFill>
                          <a:latin typeface="Arial"/>
                        </a:defRPr>
                      </a:pPr>
                      <a:r>
                        <a:t>F = 314.9</a:t>
                      </a:r>
                    </a:p>
                  </a:txBody>
                  <a:tcPr>
                    <a:solidFill>
                      <a:srgbClr val="F8FAFC"/>
                    </a:solidFill>
                  </a:tcPr>
                </a:tc>
                <a:tc>
                  <a:txBody>
                    <a:bodyPr/>
                    <a:lstStyle/>
                    <a:p>
                      <a:pPr>
                        <a:defRPr sz="850">
                          <a:solidFill>
                            <a:srgbClr val="1E293B"/>
                          </a:solidFill>
                          <a:latin typeface="Arial"/>
                        </a:defRPr>
                      </a:pPr>
                      <a:r>
                        <a:rPr dirty="0"/>
                        <a:t>&lt; 0.001</a:t>
                      </a:r>
                    </a:p>
                  </a:txBody>
                  <a:tcPr>
                    <a:solidFill>
                      <a:srgbClr val="F8FAFC"/>
                    </a:solidFill>
                  </a:tcPr>
                </a:tc>
                <a:extLst>
                  <a:ext uri="{0D108BD9-81ED-4DB2-BD59-A6C34878D82A}">
                    <a16:rowId xmlns:a16="http://schemas.microsoft.com/office/drawing/2014/main" val="10003"/>
                  </a:ext>
                </a:extLst>
              </a:tr>
            </a:tbl>
          </a:graphicData>
        </a:graphic>
      </p:graphicFrame>
      <p:sp>
        <p:nvSpPr>
          <p:cNvPr id="9" name="TextBox 8">
            <a:extLst>
              <a:ext uri="{FF2B5EF4-FFF2-40B4-BE49-F238E27FC236}">
                <a16:creationId xmlns:a16="http://schemas.microsoft.com/office/drawing/2014/main" id="{F223C424-9778-43D7-8095-8A017D5A53FE}"/>
              </a:ext>
            </a:extLst>
          </p:cNvPr>
          <p:cNvSpPr txBox="1"/>
          <p:nvPr/>
        </p:nvSpPr>
        <p:spPr>
          <a:xfrm>
            <a:off x="7831836" y="521613"/>
            <a:ext cx="4161663" cy="4495718"/>
          </a:xfrm>
          <a:prstGeom prst="rect">
            <a:avLst/>
          </a:prstGeom>
          <a:noFill/>
        </p:spPr>
        <p:txBody>
          <a:bodyPr wrap="square" rtlCol="0">
            <a:spAutoFit/>
          </a:bodyPr>
          <a:lstStyle/>
          <a:p>
            <a:pPr algn="just" rtl="0">
              <a:lnSpc>
                <a:spcPct val="150000"/>
              </a:lnSpc>
            </a:pPr>
            <a:r>
              <a:rPr lang="en-US" sz="1200" dirty="0"/>
              <a:t>On the left, panel A shows that across 155 countries in 2020, the longer people live, the older a country’s median age becomes.</a:t>
            </a:r>
          </a:p>
          <a:p>
            <a:pPr algn="just" rtl="0">
              <a:lnSpc>
                <a:spcPct val="150000"/>
              </a:lnSpc>
            </a:pPr>
            <a:r>
              <a:rPr lang="en-US" sz="1200" dirty="0"/>
              <a:t>Panel B compares the two main drivers. Life expectancy pushes median age up: every 10 extra years of life adds roughly 5.1 years to a country’s median age. Falling birth rates add to this effect, because fewer children shrink the base of young people. Together, the two factors explain 80.6 percent of the variation in median age.</a:t>
            </a:r>
          </a:p>
          <a:p>
            <a:pPr algn="just" rtl="0">
              <a:lnSpc>
                <a:spcPct val="150000"/>
              </a:lnSpc>
            </a:pPr>
            <a:r>
              <a:rPr lang="en-US" sz="1200" dirty="0"/>
              <a:t>We also found that in older nations, longer lifespans combined with fewer births caused deaths to overtake births around 2018.</a:t>
            </a:r>
          </a:p>
          <a:p>
            <a:pPr algn="just" rtl="0">
              <a:lnSpc>
                <a:spcPct val="150000"/>
              </a:lnSpc>
            </a:pPr>
            <a:r>
              <a:rPr lang="en-US" sz="1200" dirty="0"/>
              <a:t>We believe population ageing is not driven by one cause alone. It is mainly the result of people living longer, reinforced by families having fewer children, which slowly turns young, wide-based populations into older, mature ones.</a:t>
            </a:r>
          </a:p>
          <a:p>
            <a:pPr algn="just">
              <a:lnSpc>
                <a:spcPct val="150000"/>
              </a:lnSpc>
            </a:pP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91672" cy="685800"/>
          </a:xfrm>
          <a:prstGeom prst="rect">
            <a:avLst/>
          </a:prstGeom>
          <a:noFill/>
        </p:spPr>
        <p:txBody>
          <a:bodyPr wrap="square" lIns="0" tIns="0" rIns="0" bIns="0">
            <a:spAutoFit/>
          </a:bodyPr>
          <a:lstStyle/>
          <a:p>
            <a:pPr>
              <a:defRPr sz="2200" b="1">
                <a:solidFill>
                  <a:srgbClr val="102C57"/>
                </a:solidFill>
                <a:latin typeface="Arial"/>
              </a:defRPr>
            </a:pPr>
            <a:r>
              <a:t>Figure 3: Countries Falling Below 2.1 Children (2000–2040)</a:t>
            </a:r>
          </a:p>
        </p:txBody>
      </p:sp>
      <p:sp>
        <p:nvSpPr>
          <p:cNvPr id="3" name="Rectangle 2"/>
          <p:cNvSpPr/>
          <p:nvPr/>
        </p:nvSpPr>
        <p:spPr>
          <a:xfrm>
            <a:off x="7635240" y="1234440"/>
            <a:ext cx="13716" cy="493776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4094069" cy="146194"/>
          </a:xfrm>
          <a:prstGeom prst="rect">
            <a:avLst/>
          </a:prstGeom>
          <a:noFill/>
        </p:spPr>
        <p:txBody>
          <a:bodyPr wrap="none" lIns="0" tIns="0" rIns="0" bIns="0">
            <a:spAutoFit/>
          </a:bodyPr>
          <a:lstStyle/>
          <a:p>
            <a:pPr>
              <a:defRPr sz="950">
                <a:solidFill>
                  <a:srgbClr val="64748B"/>
                </a:solidFill>
                <a:latin typeface="Arial"/>
              </a:defRPr>
            </a:pPr>
            <a:r>
              <a:rPr dirty="0"/>
              <a:t>Data Architects | ASA </a:t>
            </a:r>
            <a:r>
              <a:rPr dirty="0" err="1"/>
              <a:t>DataQuest</a:t>
            </a:r>
            <a:r>
              <a:rPr dirty="0"/>
              <a:t> 2026  •  The Silver Tsunami  •  Slide </a:t>
            </a:r>
            <a:r>
              <a:rPr lang="en-US" dirty="0"/>
              <a:t>4</a:t>
            </a:r>
            <a:r>
              <a:rPr dirty="0"/>
              <a:t> of 6</a:t>
            </a:r>
          </a:p>
        </p:txBody>
      </p:sp>
      <p:pic>
        <p:nvPicPr>
          <p:cNvPr id="5" name="Picture 4" descr="Figure 3: Percentage of countries and world population below 2.1 children per family across 2000, 2020, and 2040."/>
          <p:cNvPicPr>
            <a:picLocks noChangeAspect="1"/>
          </p:cNvPicPr>
          <p:nvPr/>
        </p:nvPicPr>
        <p:blipFill>
          <a:blip r:embed="rId3"/>
          <a:stretch>
            <a:fillRect/>
          </a:stretch>
        </p:blipFill>
        <p:spPr>
          <a:xfrm>
            <a:off x="548640" y="1188720"/>
            <a:ext cx="6903720" cy="4846320"/>
          </a:xfrm>
          <a:prstGeom prst="rect">
            <a:avLst/>
          </a:prstGeom>
        </p:spPr>
      </p:pic>
      <p:sp>
        <p:nvSpPr>
          <p:cNvPr id="9" name="TextBox 8">
            <a:extLst>
              <a:ext uri="{FF2B5EF4-FFF2-40B4-BE49-F238E27FC236}">
                <a16:creationId xmlns:a16="http://schemas.microsoft.com/office/drawing/2014/main" id="{C4D7E90E-6514-4148-9817-7D8D74EBD8AC}"/>
              </a:ext>
            </a:extLst>
          </p:cNvPr>
          <p:cNvSpPr txBox="1"/>
          <p:nvPr/>
        </p:nvSpPr>
        <p:spPr>
          <a:xfrm>
            <a:off x="7948041" y="1117550"/>
            <a:ext cx="3902202" cy="5049716"/>
          </a:xfrm>
          <a:prstGeom prst="rect">
            <a:avLst/>
          </a:prstGeom>
          <a:noFill/>
        </p:spPr>
        <p:txBody>
          <a:bodyPr wrap="square" rtlCol="0">
            <a:spAutoFit/>
          </a:bodyPr>
          <a:lstStyle/>
          <a:p>
            <a:pPr algn="just" rtl="0">
              <a:lnSpc>
                <a:spcPct val="150000"/>
              </a:lnSpc>
            </a:pPr>
            <a:r>
              <a:rPr lang="en-US" sz="1200" dirty="0"/>
              <a:t>On the left, the chart tracks how many countries, and how many people in the world, live below the replacement fertility rate of 2.1 children per woman. This is the level needed to keep a population stable without migration.</a:t>
            </a:r>
          </a:p>
          <a:p>
            <a:pPr algn="just" rtl="0">
              <a:lnSpc>
                <a:spcPct val="150000"/>
              </a:lnSpc>
            </a:pPr>
            <a:r>
              <a:rPr lang="en-US" sz="1200" dirty="0"/>
              <a:t>In 2000, 58 countries, or 37.4 percent, were below replacement, covering 46.1 percent of the world’s people. By 2020, that rose to 77 countries, just under half, but because populous nations like China and India crossed or neared this level, 68 percent of the world’s population lived in sub-replacement societies. By 2040, the UN projects 92 countries, about 59 percent, and 70.3 percent of the world’s people below replacement.</a:t>
            </a:r>
          </a:p>
          <a:p>
            <a:pPr algn="just" rtl="0">
              <a:lnSpc>
                <a:spcPct val="150000"/>
              </a:lnSpc>
            </a:pPr>
            <a:r>
              <a:rPr lang="en-US" sz="1200" dirty="0"/>
              <a:t>We believe this decline is largely a one-way transition. Between 2000 and 2023, out of 22 countries that crossed below 2.1, only one rebounded. This thins the inflow of younger cohorts and permanently shapes national age distributions.</a:t>
            </a:r>
          </a:p>
          <a:p>
            <a:pPr algn="just">
              <a:lnSpc>
                <a:spcPct val="150000"/>
              </a:lnSpc>
            </a:pP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3" name="Rectangle 2"/>
          <p:cNvSpPr/>
          <p:nvPr/>
        </p:nvSpPr>
        <p:spPr>
          <a:xfrm>
            <a:off x="7301484" y="1234440"/>
            <a:ext cx="13716" cy="493776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11091672" cy="274320"/>
          </a:xfrm>
          <a:prstGeom prst="rect">
            <a:avLst/>
          </a:prstGeom>
          <a:noFill/>
        </p:spPr>
        <p:txBody>
          <a:bodyPr wrap="none" lIns="0" tIns="0" rIns="0" bIns="0">
            <a:spAutoFit/>
          </a:bodyPr>
          <a:lstStyle/>
          <a:p>
            <a:pPr>
              <a:defRPr sz="950">
                <a:solidFill>
                  <a:srgbClr val="64748B"/>
                </a:solidFill>
                <a:latin typeface="Arial"/>
              </a:defRPr>
            </a:pPr>
            <a:r>
              <a:t>Data Architects | ASA DataQuest 2026  •  The Silver Tsunami  •  Slide 6 of 6</a:t>
            </a:r>
          </a:p>
        </p:txBody>
      </p:sp>
      <p:sp>
        <p:nvSpPr>
          <p:cNvPr id="9" name="TextBox 8">
            <a:extLst>
              <a:ext uri="{FF2B5EF4-FFF2-40B4-BE49-F238E27FC236}">
                <a16:creationId xmlns:a16="http://schemas.microsoft.com/office/drawing/2014/main" id="{F1876526-38D5-4182-B300-2678A90627CA}"/>
              </a:ext>
            </a:extLst>
          </p:cNvPr>
          <p:cNvSpPr txBox="1"/>
          <p:nvPr/>
        </p:nvSpPr>
        <p:spPr>
          <a:xfrm>
            <a:off x="847725" y="628650"/>
            <a:ext cx="408622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CONCLUSION</a:t>
            </a:r>
          </a:p>
        </p:txBody>
      </p:sp>
      <p:sp>
        <p:nvSpPr>
          <p:cNvPr id="11" name="TextBox 10">
            <a:extLst>
              <a:ext uri="{FF2B5EF4-FFF2-40B4-BE49-F238E27FC236}">
                <a16:creationId xmlns:a16="http://schemas.microsoft.com/office/drawing/2014/main" id="{2AC478E5-0FDD-42C5-AA19-C365376EB0E8}"/>
              </a:ext>
            </a:extLst>
          </p:cNvPr>
          <p:cNvSpPr txBox="1"/>
          <p:nvPr/>
        </p:nvSpPr>
        <p:spPr>
          <a:xfrm>
            <a:off x="8220075" y="638175"/>
            <a:ext cx="31242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REFERENCE</a:t>
            </a:r>
          </a:p>
        </p:txBody>
      </p:sp>
      <p:sp>
        <p:nvSpPr>
          <p:cNvPr id="12" name="TextBox 11">
            <a:extLst>
              <a:ext uri="{FF2B5EF4-FFF2-40B4-BE49-F238E27FC236}">
                <a16:creationId xmlns:a16="http://schemas.microsoft.com/office/drawing/2014/main" id="{DBD66987-07EE-4E4A-8DAB-A15BD4FF38D6}"/>
              </a:ext>
            </a:extLst>
          </p:cNvPr>
          <p:cNvSpPr txBox="1"/>
          <p:nvPr/>
        </p:nvSpPr>
        <p:spPr>
          <a:xfrm>
            <a:off x="847725" y="1571624"/>
            <a:ext cx="5810250" cy="3285323"/>
          </a:xfrm>
          <a:prstGeom prst="rect">
            <a:avLst/>
          </a:prstGeom>
          <a:noFill/>
        </p:spPr>
        <p:txBody>
          <a:bodyPr wrap="square" rtlCol="0">
            <a:spAutoFit/>
          </a:bodyPr>
          <a:lstStyle/>
          <a:p>
            <a:pPr marL="285750" indent="-285750" rtl="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world is ageing steadily: youthful nations fall from 68 in 2000 to a projected 12 by 2040.</a:t>
            </a:r>
          </a:p>
          <a:p>
            <a:pPr marL="285750" indent="-285750" rtl="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By 2020, about 68% of the world’s people lived in countries below replacement fertility (2.1 children per woman).</a:t>
            </a:r>
          </a:p>
          <a:p>
            <a:pPr marL="285750" indent="-285750" rtl="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Longer life expectancy is the main driver of rising median age, reinforced by falling birth rates.</a:t>
            </a:r>
          </a:p>
          <a:p>
            <a:pPr marL="285750" indent="-285750" rtl="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These results show associations, not proven causation.</a:t>
            </a:r>
          </a:p>
          <a:p>
            <a:pPr marL="285750" indent="-285750" rtl="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Due to the ASA </a:t>
            </a:r>
            <a:r>
              <a:rPr lang="en-US" sz="1400" dirty="0" err="1">
                <a:latin typeface="Times New Roman" panose="02020603050405020304" pitchFamily="18" charset="0"/>
                <a:cs typeface="Times New Roman" panose="02020603050405020304" pitchFamily="18" charset="0"/>
              </a:rPr>
              <a:t>DataQuest</a:t>
            </a:r>
            <a:r>
              <a:rPr lang="en-US" sz="1400" dirty="0">
                <a:latin typeface="Times New Roman" panose="02020603050405020304" pitchFamily="18" charset="0"/>
                <a:cs typeface="Times New Roman" panose="02020603050405020304" pitchFamily="18" charset="0"/>
              </a:rPr>
              <a:t> 6-slide limit, we could not include our statistical diagnostic test results. The full code and details will be available on GitHub: </a:t>
            </a:r>
            <a:r>
              <a:rPr lang="en-US" sz="1400" dirty="0">
                <a:latin typeface="Times New Roman" panose="02020603050405020304" pitchFamily="18" charset="0"/>
                <a:cs typeface="Times New Roman" panose="02020603050405020304" pitchFamily="18" charset="0"/>
                <a:hlinkClick r:id="rId3"/>
              </a:rPr>
              <a:t>https://github.com/emmanuelikeh2993/asa-dataquest-2026</a:t>
            </a:r>
            <a:endParaRPr lang="en-US" sz="1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3E56DE2-D16F-4C40-914E-43E25343684D}"/>
              </a:ext>
            </a:extLst>
          </p:cNvPr>
          <p:cNvSpPr txBox="1"/>
          <p:nvPr/>
        </p:nvSpPr>
        <p:spPr>
          <a:xfrm>
            <a:off x="7760589" y="2290227"/>
            <a:ext cx="4259961" cy="1015663"/>
          </a:xfrm>
          <a:prstGeom prst="rect">
            <a:avLst/>
          </a:prstGeom>
          <a:noFill/>
        </p:spPr>
        <p:txBody>
          <a:bodyPr wrap="square" rtlCol="0">
            <a:spAutoFit/>
          </a:bodyPr>
          <a:lstStyle/>
          <a:p>
            <a:pPr marL="285750" indent="-285750" rtl="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United Nations, World Population Prospects 2024 (UN WPP 2024)</a:t>
            </a:r>
          </a:p>
          <a:p>
            <a:pPr marL="285750" indent="-285750" rtl="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Google (background research)</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383</TotalTime>
  <Words>1386</Words>
  <Application>Microsoft Office PowerPoint</Application>
  <PresentationFormat>Widescreen</PresentationFormat>
  <Paragraphs>79</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Arial Black</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uthman awowole</dc:creator>
  <cp:keywords/>
  <dc:description>generated using python-pptx</dc:description>
  <cp:lastModifiedBy>uthman</cp:lastModifiedBy>
  <cp:revision>16</cp:revision>
  <dcterms:created xsi:type="dcterms:W3CDTF">2013-01-27T09:14:16Z</dcterms:created>
  <dcterms:modified xsi:type="dcterms:W3CDTF">2026-10-30T06:38:11Z</dcterms:modified>
  <cp:category/>
</cp:coreProperties>
</file>